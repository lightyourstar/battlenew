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BattleNew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 固定帧战斗系统架构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1828800" cy="457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FPS 固定帧 · ECS 风格 · 全配置驱动 · 支持回放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1097280"/>
          </a:xfrm>
          <a:prstGeom prst="rect">
            <a:avLst>
              <a:gd name="adj" fmla="val 8333"/>
            </a:avLst>
          </a:prstGeom>
          <a:solidFill>
            <a:srgbClr val="F8F9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C# 文件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920240" cy="1097280"/>
          </a:xfrm>
          <a:prstGeom prst="rect">
            <a:avLst>
              <a:gd name="adj" fmla="val 8333"/>
            </a:avLst>
          </a:prstGeom>
          <a:solidFill>
            <a:srgbClr val="F8F9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核心系统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1920240" cy="1097280"/>
          </a:xfrm>
          <a:prstGeom prst="rect">
            <a:avLst>
              <a:gd name="adj" fmla="val 8333"/>
            </a:avLst>
          </a:prstGeom>
          <a:solidFill>
            <a:srgbClr val="F8F9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FPS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固定帧率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463040"/>
            <a:ext cx="1920240" cy="1097280"/>
          </a:xfrm>
          <a:prstGeom prst="rect">
            <a:avLst>
              <a:gd name="adj" fmla="val 8333"/>
            </a:avLst>
          </a:prstGeom>
          <a:solidFill>
            <a:srgbClr val="F8F9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ECS-like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架构风格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Unity + C# + HybridCLR 的固定帧战斗框架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ECS 风格设计：实体系统分离，数据与逻辑解耦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完整的实体生态：英雄、敌人、子弹、Buff、词条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全配置驱动：Excel → 自动生成 C# 配置类 + 资源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内置回放系统：确定性随机数 + 命令帧录制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 机制（setupContext）保持 Runtime 层无感知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Layered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502920"/>
          </a:xfrm>
          <a:prstGeom prst="rect">
            <a:avLst>
              <a:gd name="adj" fmla="val 14545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引导层 (Bootstrap)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325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BattleBootstrap · BattleRunnerBehaviour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680960" cy="502920"/>
          </a:xfrm>
          <a:prstGeom prst="rect">
            <a:avLst>
              <a:gd name="adj" fmla="val 14545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 (Orchestration)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BattleWorld → 系统 Tick 调度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7680960" cy="502920"/>
          </a:xfrm>
          <a:prstGeom prst="rect">
            <a:avLst>
              <a:gd name="adj" fmla="val 14545"/>
            </a:avLst>
          </a:prstGeom>
          <a:solidFill>
            <a:srgbClr val="3498D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上下文层 (Context)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BattleContext → 聚合所有状态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7680960" cy="502920"/>
          </a:xfrm>
          <a:prstGeom prst="rect">
            <a:avLst>
              <a:gd name="adj" fmla="val 14545"/>
            </a:avLst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实体层 (Entities)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520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 · Enemy · Bullet · Buff · Trait · Wave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7680960" cy="502920"/>
          </a:xfrm>
          <a:prstGeom prst="rect">
            <a:avLst>
              <a:gd name="adj" fmla="val 14545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 (Rules)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4251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PlayMode · StageHandler · VictoryRule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937760"/>
            <a:ext cx="7680960" cy="502920"/>
          </a:xfrm>
          <a:prstGeom prst="rect">
            <a:avLst>
              <a:gd name="adj" fmla="val 14545"/>
            </a:avLst>
          </a:prstGeom>
          <a:solidFill>
            <a:srgbClr val="7F8C8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83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 (Services)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4983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 · Network · EventBus · Config · Debug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669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上层依赖下层，下层不感知上层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BattleWorld &amp; BattleContext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战斗世界核心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BattleWorld — 纯粹编排者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不包含任何业务逻辑，每帧按顺序调用各系统 Tick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创建时装配 Context，启动/暂停/恢复/停止生命周期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SeedFromLoadout：根据 BattleLoadout 播种初始实体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固定帧循环：OnFixedTick → 按固定步长（1/30s）推进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BattleContext — 聚合上下文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BattleTime + BattleRng (确定性随机)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EntityRegistry (Hero/Enemy/Bullet 列表)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数据注册表: HeroDef · WeaponDef · TraitPool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系统实例: HeroSystem · BulletSystem · WaveSystem · AI · Trait...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2103120"/>
          </a:xfrm>
          <a:prstGeom prst="rect">
            <a:avLst>
              <a:gd name="adj" fmla="val 2174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BattleWorld 每帧调度 (简化)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Tick(float dt)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Context.HeroMovementController.Tick(ctx,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Context.HeroTargetingService.Tick(ctx,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Context.HeroStateController.Tick(ctx,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Context.WeaponFireService.Tick(ctx,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Context.AISystem.Tick(ctx,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Context.BulletSystem.Tick(ctx,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Context.BuffSystem.Tick(ctx,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Context.TraitSystem.Tick(ctx,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Context.WaveSystem.Tick(ctx,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Context.HitReactionService.Tick(ctx,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Context.DeathService.Tick(ctx,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固定帧循环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FrameLoop — 渲染帧与逻辑帧解耦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累加器模式：Acc = Acc + deltaTime，当 Acc &gt;= FixedStep (1/30s) 时触发一次逻辑帧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渲染帧（可变 deltaTime） →  累加器切片 →  N 个逻辑帧（固定 1/30s）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3200400"/>
          </a:xfrm>
          <a:prstGeom prst="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FrameLoop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_accumulator;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FixedStep { get; }     // 1/30 = 0.0333s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 IsRunning { get;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 IsPaused { get;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Action&lt;float&gt;? OnFixedTick;  // 逻辑帧回调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Tick(float deltaTime)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(!IsRunning || IsPaused) return;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_accumulator += deltaTime;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(_accumulator &gt;= FixedStep)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OnFixedTick?.Invoke(FixedStep);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_accumulator -= FixedStep;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Entity Systems — Hero / Enemy / Bullet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200400"/>
          </a:xfrm>
          <a:prstGeom prst="rect">
            <a:avLst>
              <a:gd name="adj" fmla="val 3333"/>
            </a:avLst>
          </a:prstGeom>
          <a:solidFill>
            <a:srgbClr val="F8F9FA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英雄: 移动/锁敌/状态/武器发射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MovementController · Targeting · StateController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WeaponFireService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743200" cy="3200400"/>
          </a:xfrm>
          <a:prstGeom prst="rect">
            <a:avLst>
              <a:gd name="adj" fmla="val 3333"/>
            </a:avLst>
          </a:prstGeom>
          <a:solidFill>
            <a:srgbClr val="F8F9F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👾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(Enemy)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敌人: AIEntity → AIBehavior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AISystem Tick → 寻敌/移动/攻击决策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WaveSystem / SpawnSystem 管理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743200" cy="3200400"/>
          </a:xfrm>
          <a:prstGeom prst="rect">
            <a:avLst>
              <a:gd name="adj" fmla="val 3333"/>
            </a:avLst>
          </a:prstGeom>
          <a:solidFill>
            <a:srgbClr val="F8F9F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💥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Bullet System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子弹: Linear / Parabolic / Tracking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BulletFactory · WeaponRuntime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FireSocket · HitResolver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EntityRegistry 集中管理三类实体列表，支持 Id 查找和存活检查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 System — 帧命令缓冲与消息总线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设计意图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所有玩家输入封装为 IFrameCommand（Move / UseSkill / SelectTrait）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FrameCommandBuffer 收集一帧内全部命令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OrderBus（消息总线）在逻辑帧末统一分发执行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录制模式下，命令帧数据写入 ReplayRecord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回放模式直接播放命令帧序列，完全复现对局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2103120"/>
          </a:xfrm>
          <a:prstGeom prst="rect">
            <a:avLst>
              <a:gd name="adj" fmla="val 2174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IFrameCommand 接口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IFrameCommand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CommandType Type { get;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SourceId { get;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FrameIndex { get;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已实现的命令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MoveCommand : IFrameCommand { ...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UseSkillCommand : IFrameCommand { ... }    // 施放技能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SelectTraitCommand : IFrameCommand { ... } // 选择词条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帧命令缓冲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FrameCommandBuffer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List&lt;IFrameCommand&gt; Commands { get;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Enqueue(IFrameCommand cmd) { ...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Flush(OrderBus bus) { ... }  // 帧末分发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伤害管线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Damage Pipeline — 统一伤害入口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72768" cy="2926080"/>
          </a:xfrm>
          <a:prstGeom prst="rect">
            <a:avLst>
              <a:gd name="adj" fmla="val 5814"/>
            </a:avLst>
          </a:prstGeom>
          <a:solidFill>
            <a:srgbClr val="F8F9FA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150876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 DamageContext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(BaseDamage = 初始值)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47088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8C8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29968" y="1371600"/>
            <a:ext cx="1572768" cy="2926080"/>
          </a:xfrm>
          <a:prstGeom prst="rect">
            <a:avLst>
              <a:gd name="adj" fmla="val 5814"/>
            </a:avLst>
          </a:prstGeom>
          <a:solidFill>
            <a:srgbClr val="F8F9F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150876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2587752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21408" y="210312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无敌帧检查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HitReactionService.IsInvincible()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取消伤害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02736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8C8D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85616" y="1371600"/>
            <a:ext cx="1572768" cy="2926080"/>
          </a:xfrm>
          <a:prstGeom prst="rect">
            <a:avLst>
              <a:gd name="adj" fmla="val 5814"/>
            </a:avLst>
          </a:prstGeom>
          <a:solidFill>
            <a:srgbClr val="F8F9F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0876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77056" y="210312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 修正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BuffSystem.ModifyDamage()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攻击增伤 / 受击减伤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58384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8C8D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41264" y="1371600"/>
            <a:ext cx="1572768" cy="2926080"/>
          </a:xfrm>
          <a:prstGeom prst="rect">
            <a:avLst>
              <a:gd name="adj" fmla="val 5814"/>
            </a:avLst>
          </a:prstGeom>
          <a:solidFill>
            <a:srgbClr val="F8F9F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9048" y="15087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4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32704" y="210312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词条修正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TraitSystem.ModifyDamage()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伤害加成 / 护盾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14032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8C8D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296912" y="1371600"/>
            <a:ext cx="1572768" cy="2926080"/>
          </a:xfrm>
          <a:prstGeom prst="rect">
            <a:avLst>
              <a:gd name="adj" fmla="val 5814"/>
            </a:avLst>
          </a:prstGeom>
          <a:solidFill>
            <a:srgbClr val="F8F9F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4696" y="150876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785469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88352" y="210312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扣血 + 死亡事件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DeathService 处理死亡逻辑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英雄和怪物共用一套伤害管线。受击反应（击退/硬直）由 HitReactionService 单独处理。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 与词条系统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 System &amp; Trait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Buff 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IBuff 接口 → BuffRuntime 实例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BuffRegistry 管理活跃 Buff 生命周期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BuffSystem.ModifyDamage() 伤害修正钩子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已实现: AttackSpeedBuff · DamageBoostBuff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Hotfix 层可注册自定义 Buff 类型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🟠 词条 (Trait) 系统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ITrait 接口 → TraitRegistry 管理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TraitPoolDef + TraitPoolRegistry 定义词条池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ITraitOfferService 加权随机抽取候选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TraitFactory 实例化 → Equip/Unequip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已实现: DamageBoostTrait (Hotfix 层)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1371600"/>
          </a:xfrm>
          <a:prstGeom prst="rect">
            <a:avLst>
              <a:gd name="adj" fmla="val 3333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词条选择流程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ITraitOfferService.RollOffers(ctx, count)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从 TraitPool 加权抽取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SelectTraitCommand 帧命令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TraitSystem.EquipTrait(ctx, trait)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trait.OnEquip(ctx) 激活效果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394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 和 Trait 都通过 ModifyDamage() 参与伤害管线修正，形成可组合的伤害公式层。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波次与刷怪系统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Wave System &amp; Spawn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WaveSystem 工作流程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645920" cy="594360"/>
          </a:xfrm>
          <a:prstGeom prst="rect">
            <a:avLst>
              <a:gd name="adj" fmla="val 9231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当前波次活跃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WaveSystem.Tick 检测清场状态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所有敌人死亡 → 进入延迟阶段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645920" cy="594360"/>
          </a:xfrm>
          <a:prstGeom prst="rect">
            <a:avLst>
              <a:gd name="adj" fmla="val 9231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延迟倒计时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6517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DelayTimer 递减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可配置每波间隔时间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645920" cy="594360"/>
          </a:xfrm>
          <a:prstGeom prst="rect">
            <a:avLst>
              <a:gd name="adj" fmla="val 9231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74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触发下一波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34747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SpawnSystem.Spawn()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WaveConfig 决定位置/数量/类型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1645920" cy="594360"/>
          </a:xfrm>
          <a:prstGeom prst="rect">
            <a:avLst>
              <a:gd name="adj" fmla="val 9231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97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循环至全部完成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42976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PendingWaveCount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VictoryRule 判定胜利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设计亮点: 配置化波次 (WaveConfig) → 策划可通过 Excel 配表控制每一波的数量、延迟、敌人类型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System — 敌人行为驱动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AIEntity：包含 AIBehavior、移动状态、攻击目标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AISystem.Tick()：每逻辑帧对所有存活敌人执行行为更新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行为逻辑由 AIBehavior 子类定义（可热更扩展）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HeroTargetingService 对称：敌人也需要寻敌 + 移动 + 攻击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受击反应集成：命中后触发 HitReactionService 控制硬直/击退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2286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56616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AIEntity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Id;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AIBehavior Behavior;    // 可热更扩展的行为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MoveSpeed;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CurrentHp;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string? TargetId;       // 当前锁定目标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AISystem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Tick(BattleContext ctx, float dt)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(AIEntity ai in ctx.Registry.Enemies)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ai.Behavior?.Update(ctx, ai, dt);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玩法模式与胜负判定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PlayMode · StageHandler · VictoryRule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2103120"/>
          </a:xfrm>
          <a:prstGeom prst="rect">
            <a:avLst>
              <a:gd name="adj" fmla="val 4348"/>
            </a:avLst>
          </a:prstGeom>
          <a:solidFill>
            <a:srgbClr val="F8F9FA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IPlayMode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玩法接口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OnBattleStart / OnBattleEnd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控制战斗生命周期钩子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743200" cy="2103120"/>
          </a:xfrm>
          <a:prstGeom prst="rect">
            <a:avLst>
              <a:gd name="adj" fmla="val 4348"/>
            </a:avLst>
          </a:prstGeom>
          <a:solidFill>
            <a:srgbClr val="F8F9F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IStageHandler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920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关卡处理器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DefaultStageHandler（单波次）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MultiWaveStageHandler（多波次）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743200" cy="2103120"/>
          </a:xfrm>
          <a:prstGeom prst="rect">
            <a:avLst>
              <a:gd name="adj" fmla="val 4348"/>
            </a:avLst>
          </a:prstGeom>
          <a:solidFill>
            <a:srgbClr val="F8F9F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IVictoryRule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920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胜利规则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KillAllVictoryRule（全歼）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TimeLimitVictoryRule（限时）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Hotfix 层可扩展: ElitePlayMode（精英模式）通过 Hotfix 热更注册新玩法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1645920"/>
          </a:xfrm>
          <a:prstGeom prst="rect">
            <a:avLst>
              <a:gd name="adj" fmla="val 2778"/>
            </a:avLst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Hotfix 层注册入口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class HotfixAllRegistrar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RegisterAll(BattleContext ctx)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HotfixDefRegistrar.Register(ctx);     // HeroDef, WeaponDef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HotfixTraitRegistrar.Register(ctx);   // TraitFactory, TraitPool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回放与网络架构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Replay &amp; Network — 预留扩展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📼 回放系统 (IReplayService)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BattleReplaySession：回放会话，按帧播放录制帧序列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LocalReplayService：本地录制实现，记录所有 IFrameCommand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确定性保证：RngSeed + 固定帧率 + 命令帧 = 完全可复现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BattleBootstrap.EnterReplay()：统一回放入口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网络预留 (INetAdapter)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INetAdapter 接口：抽象网络层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NullNetAdapter：当前单机实现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 P2P / 帧同步 / 状态同步扩展点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EventBus + Command 机制天然适配网络同步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1463040"/>
          </a:xfrm>
          <a:prstGeom prst="rect">
            <a:avLst>
              <a:gd name="adj" fmla="val 3125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回放流程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BattleBootstrap.EnterReplay(ReplayRecord)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创建 BattleReplaySession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FrameLoop.Start()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按帧索引播放录制的命令帧序列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唯一不同: MoveCommand 不再由输入产生，而是从录像读取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 System — Excel 驱动全链路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2057400" cy="1828800"/>
          </a:xfrm>
          <a:prstGeom prst="rect">
            <a:avLst>
              <a:gd name="adj" fmla="val 5000"/>
            </a:avLst>
          </a:prstGeom>
          <a:solidFill>
            <a:srgbClr val="F8F9F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417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策划编写 Excel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(Attr.csv / Buff.csv / 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类型行 + 数据行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23160" y="1371600"/>
            <a:ext cx="2057400" cy="1828800"/>
          </a:xfrm>
          <a:prstGeom prst="rect">
            <a:avLst>
              <a:gd name="adj" fmla="val 5000"/>
            </a:avLst>
          </a:prstGeom>
          <a:solidFill>
            <a:srgbClr val="F8F9FA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417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 菜单生成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Tools/Config/Generation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 → Refresh + Generate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2057400" cy="1828800"/>
          </a:xfrm>
          <a:prstGeom prst="rect">
            <a:avLst>
              <a:gd name="adj" fmla="val 5000"/>
            </a:avLst>
          </a:prstGeom>
          <a:solidFill>
            <a:srgbClr val="F8F9FA"/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417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 C# 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Tables/*.gen.cs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Data/*ConfigRaw.asset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2057400" cy="1828800"/>
          </a:xfrm>
          <a:prstGeom prst="rect">
            <a:avLst>
              <a:gd name="adj" fmla="val 5000"/>
            </a:avLst>
          </a:prstGeom>
          <a:solidFill>
            <a:srgbClr val="F8F9F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417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18288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运行时读取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IConfigProvider.GetTable()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类型安全查询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类型行检测：第二行自动识别类型 → 精确类型校验 + 代码生成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外键规则：ConfigReferenceRules.cs 声明跨表引用关系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校验器：主键/空键/重复键/类型错误/外键缺失 → 一键 Validate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版本预留：IConfigProvider 支持 ConfigVersionInfo → Reload()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总结与技术亮点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Highlights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固定帧率 30 FPS：保证确定性，支持完整回放复现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ECS 风格分层：Entity/System/Context 分离，职责清晰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Hook 机制：setupContext 回调让 Hotfix 层注入，Runtime 零感知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统一伤害管线：无敌帧 → Buff → Trait → 扣血，可组合可扩展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配置驱动：Excel → 自动生成 C# + 资源，策划工作流不变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回放系统：RngSeed + 命令帧录制 = 完全可复现对局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网络预留：INetAdapter + EventBus 为帧同步/状态同步留好接口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HybridCLR 就绪：Hotfix 层独立 Assembly，支持热更玩法/Buff/词条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731520"/>
          </a:xfrm>
          <a:prstGeom prst="rect">
            <a:avLst>
              <a:gd name="adj" fmla="val 10000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846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90+ C# 文件 · 12 核心系统 · Runtime/Hotfix 双 Assembly · 全配置驱动 · 支持热更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BattleNew 战斗系统技术架构</dc:title>
  <dc:subject>Unity 固定帧战斗框架</dc:subject>
  <dc:creator>AI Assistant</dc:creator>
  <cp:lastModifiedBy>AI Assistant</cp:lastModifiedBy>
  <cp:revision>1</cp:revision>
  <dcterms:created xsi:type="dcterms:W3CDTF">2026-04-30T02:50:46Z</dcterms:created>
  <dcterms:modified xsi:type="dcterms:W3CDTF">2026-04-30T02:50:46Z</dcterms:modified>
</cp:coreProperties>
</file>